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JetBrains Mono" charset="1" panose="02010509020102050004"/>
      <p:regular r:id="rId21"/>
    </p:embeddedFont>
    <p:embeddedFont>
      <p:font typeface="JetBrains Mono Ultra-Bold" charset="1" panose="02010909030102050004"/>
      <p:regular r:id="rId22"/>
    </p:embeddedFont>
    <p:embeddedFont>
      <p:font typeface="Inter" charset="1" panose="02000503000000020004"/>
      <p:regular r:id="rId23"/>
    </p:embeddedFont>
    <p:embeddedFont>
      <p:font typeface="JetBrains Mono Bold" charset="1" panose="02010809030102050004"/>
      <p:regular r:id="rId24"/>
    </p:embeddedFont>
    <p:embeddedFont>
      <p:font typeface="JetBrains Mono Medium" charset="1" panose="02010609020102050004"/>
      <p:regular r:id="rId25"/>
    </p:embeddedFont>
    <p:embeddedFont>
      <p:font typeface="Inter Semi-Bold" charset="1" panose="02000503000000020004"/>
      <p:regular r:id="rId26"/>
    </p:embeddedFont>
    <p:embeddedFont>
      <p:font typeface="Inter Bold" charset="1" panose="0200050300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5000"/>
              </a:blip>
              <a:stretch>
                <a:fillRect l="-6822" t="0" r="-682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D1117">
                    <a:alpha val="50000"/>
                  </a:srgbClr>
                </a:gs>
                <a:gs pos="30000">
                  <a:srgbClr val="0D1117">
                    <a:alpha val="20000"/>
                  </a:srgbClr>
                </a:gs>
                <a:gs pos="100000">
                  <a:srgbClr val="0D1117">
                    <a:alpha val="85000"/>
                  </a:srgbClr>
                </a:gs>
              </a:gsLst>
              <a:lin ang="5400000"/>
            </a:gra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30000">
                  <a:srgbClr val="0D1117">
                    <a:alpha val="0"/>
                  </a:srgbClr>
                </a:gs>
                <a:gs pos="70000">
                  <a:srgbClr val="0D1117">
                    <a:alpha val="70000"/>
                  </a:srgbClr>
                </a:gs>
                <a:gs pos="100000">
                  <a:srgbClr val="0D111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sp>
        <p:nvSpPr>
          <p:cNvPr name="AutoShape 9" id="9"/>
          <p:cNvSpPr/>
          <p:nvPr/>
        </p:nvSpPr>
        <p:spPr>
          <a:xfrm rot="0">
            <a:off x="266700" y="10001250"/>
            <a:ext cx="285750" cy="19050"/>
          </a:xfrm>
          <a:prstGeom prst="rect">
            <a:avLst/>
          </a:prstGeom>
          <a:solidFill>
            <a:srgbClr val="58A6FF">
              <a:alpha val="69804"/>
            </a:srgbClr>
          </a:solidFill>
        </p:spPr>
      </p:sp>
      <p:sp>
        <p:nvSpPr>
          <p:cNvPr name="AutoShape 10" id="10"/>
          <p:cNvSpPr/>
          <p:nvPr/>
        </p:nvSpPr>
        <p:spPr>
          <a:xfrm rot="0">
            <a:off x="266700" y="9734550"/>
            <a:ext cx="19050" cy="266700"/>
          </a:xfrm>
          <a:prstGeom prst="rect">
            <a:avLst/>
          </a:prstGeom>
          <a:solidFill>
            <a:srgbClr val="58A6FF">
              <a:alpha val="69804"/>
            </a:srgbClr>
          </a:solidFill>
        </p:spPr>
      </p:sp>
      <p:sp>
        <p:nvSpPr>
          <p:cNvPr name="AutoShape 11" id="11"/>
          <p:cNvSpPr/>
          <p:nvPr/>
        </p:nvSpPr>
        <p:spPr>
          <a:xfrm rot="0">
            <a:off x="18002250" y="9734550"/>
            <a:ext cx="19050" cy="266700"/>
          </a:xfrm>
          <a:prstGeom prst="rect">
            <a:avLst/>
          </a:prstGeom>
          <a:solidFill>
            <a:srgbClr val="58A6FF">
              <a:alpha val="69804"/>
            </a:srgbClr>
          </a:solidFill>
        </p:spPr>
      </p:sp>
      <p:sp>
        <p:nvSpPr>
          <p:cNvPr name="AutoShape 12" id="12"/>
          <p:cNvSpPr/>
          <p:nvPr/>
        </p:nvSpPr>
        <p:spPr>
          <a:xfrm rot="0">
            <a:off x="17735550" y="10001250"/>
            <a:ext cx="285750" cy="19050"/>
          </a:xfrm>
          <a:prstGeom prst="rect">
            <a:avLst/>
          </a:prstGeom>
          <a:solidFill>
            <a:srgbClr val="58A6FF">
              <a:alpha val="69804"/>
            </a:srgbClr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571500" y="342900"/>
            <a:ext cx="431139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SECTOR // GAME OOP JAVA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84396" y="342900"/>
            <a:ext cx="7498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1500" y="9572625"/>
            <a:ext cx="48738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NETLAB // OPEN RECRUITMENT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16789" y="9572625"/>
            <a:ext cx="14997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 // 15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79444" y="2786062"/>
            <a:ext cx="432892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spc="624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PROYEK AKHIR OOP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66860" y="3814763"/>
            <a:ext cx="1215409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5"/>
              </a:lnSpc>
            </a:pPr>
            <a:r>
              <a:rPr lang="en-US" b="true" sz="16500" spc="-330">
                <a:solidFill>
                  <a:srgbClr val="E6EDF3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AstroDrill</a:t>
            </a:r>
          </a:p>
        </p:txBody>
      </p:sp>
      <p:sp>
        <p:nvSpPr>
          <p:cNvPr name="AutoShape 19" id="19"/>
          <p:cNvSpPr/>
          <p:nvPr/>
        </p:nvSpPr>
        <p:spPr>
          <a:xfrm rot="0">
            <a:off x="8096250" y="5872162"/>
            <a:ext cx="2095500" cy="9525"/>
          </a:xfrm>
          <a:prstGeom prst="rect">
            <a:avLst/>
          </a:prstGeom>
          <a:solidFill>
            <a:srgbClr val="30363D"/>
          </a:solidFill>
        </p:spPr>
      </p:sp>
      <p:sp>
        <p:nvSpPr>
          <p:cNvPr name="TextBox 20" id="20"/>
          <p:cNvSpPr txBox="true"/>
          <p:nvPr/>
        </p:nvSpPr>
        <p:spPr>
          <a:xfrm rot="0">
            <a:off x="5497449" y="6176963"/>
            <a:ext cx="729300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Proyek Akhir OOP, Open Recruitment NetLab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18563" y="7367588"/>
            <a:ext cx="5250875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spc="156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Presenter: </a:t>
            </a:r>
            <a:r>
              <a:rPr lang="en-US" sz="1950" spc="156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David Alexander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Daftar Isi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6" id="6"/>
          <p:cNvSpPr/>
          <p:nvPr/>
        </p:nvSpPr>
        <p:spPr>
          <a:xfrm rot="0">
            <a:off x="914400" y="3278410"/>
            <a:ext cx="16459200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914400" y="2616422"/>
            <a:ext cx="10477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2150" y="2573560"/>
            <a:ext cx="1505473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Gambaran Proyek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16889" y="2664047"/>
            <a:ext cx="35671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914400" y="4316635"/>
            <a:ext cx="16459200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914400" y="3654647"/>
            <a:ext cx="10477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2150" y="3611785"/>
            <a:ext cx="141631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Tech Stack dan Arsitektur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25349" y="3702272"/>
            <a:ext cx="124825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— 06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914400" y="5354860"/>
            <a:ext cx="16459200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914400" y="4692872"/>
            <a:ext cx="10477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62150" y="4650010"/>
            <a:ext cx="141631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Database dan REST API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25349" y="4740497"/>
            <a:ext cx="124825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— 10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914400" y="6393085"/>
            <a:ext cx="16459200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914400" y="5731097"/>
            <a:ext cx="10477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62150" y="5688235"/>
            <a:ext cx="141631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Enam Design Pattern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25349" y="5778722"/>
            <a:ext cx="124825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— 14</a:t>
            </a:r>
          </a:p>
        </p:txBody>
      </p:sp>
      <p:sp>
        <p:nvSpPr>
          <p:cNvPr name="AutoShape 22" id="22"/>
          <p:cNvSpPr/>
          <p:nvPr/>
        </p:nvSpPr>
        <p:spPr>
          <a:xfrm rot="0">
            <a:off x="914400" y="7431310"/>
            <a:ext cx="16459200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23" id="23"/>
          <p:cNvSpPr txBox="true"/>
          <p:nvPr/>
        </p:nvSpPr>
        <p:spPr>
          <a:xfrm rot="0">
            <a:off x="914400" y="6769322"/>
            <a:ext cx="10477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62150" y="6726460"/>
            <a:ext cx="15054739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Demo, Bonus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016889" y="6816947"/>
            <a:ext cx="35671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23950" y="304800"/>
            <a:ext cx="427939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ASTRODRILL // DAFTAR ISI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42269" y="304800"/>
            <a:ext cx="303133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OOP FINAL PROJECT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4" id="4"/>
          <p:cNvSpPr/>
          <p:nvPr/>
        </p:nvSpPr>
        <p:spPr>
          <a:xfrm rot="0">
            <a:off x="9629775" y="5133975"/>
            <a:ext cx="133350" cy="9525"/>
          </a:xfrm>
          <a:prstGeom prst="rect">
            <a:avLst/>
          </a:prstGeom>
          <a:solidFill>
            <a:srgbClr val="58A6FF">
              <a:alpha val="49804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9629775" y="5143500"/>
            <a:ext cx="9525" cy="123825"/>
          </a:xfrm>
          <a:prstGeom prst="rect">
            <a:avLst/>
          </a:prstGeom>
          <a:solidFill>
            <a:srgbClr val="58A6FF">
              <a:alpha val="49804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17249775" y="8324850"/>
            <a:ext cx="9525" cy="123825"/>
          </a:xfrm>
          <a:prstGeom prst="rect">
            <a:avLst/>
          </a:prstGeom>
          <a:solidFill>
            <a:srgbClr val="58A6FF">
              <a:alpha val="49804"/>
            </a:srgbClr>
          </a:solidFill>
        </p:spPr>
      </p:sp>
      <p:sp>
        <p:nvSpPr>
          <p:cNvPr name="AutoShape 7" id="7"/>
          <p:cNvSpPr/>
          <p:nvPr/>
        </p:nvSpPr>
        <p:spPr>
          <a:xfrm rot="0">
            <a:off x="17125950" y="8448675"/>
            <a:ext cx="133350" cy="9525"/>
          </a:xfrm>
          <a:prstGeom prst="rect">
            <a:avLst/>
          </a:prstGeom>
          <a:solidFill>
            <a:srgbClr val="58A6FF">
              <a:alpha val="49804"/>
            </a:srgbClr>
          </a:solidFill>
        </p:spPr>
      </p:sp>
      <p:grpSp>
        <p:nvGrpSpPr>
          <p:cNvPr name="Group 8" id="8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629775" y="3088362"/>
            <a:ext cx="8020050" cy="4110276"/>
          </a:xfrm>
          <a:custGeom>
            <a:avLst/>
            <a:gdLst/>
            <a:ahLst/>
            <a:cxnLst/>
            <a:rect r="r" b="b" t="t" l="l"/>
            <a:pathLst>
              <a:path h="4110276" w="8020050">
                <a:moveTo>
                  <a:pt x="0" y="0"/>
                </a:moveTo>
                <a:lnTo>
                  <a:pt x="8020050" y="0"/>
                </a:lnTo>
                <a:lnTo>
                  <a:pt x="8020050" y="4110276"/>
                </a:lnTo>
                <a:lnTo>
                  <a:pt x="0" y="411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1133475"/>
            <a:ext cx="539496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Gambaran Proyek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117056"/>
            <a:ext cx="283292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 spc="467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KONSEP INTI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3698717"/>
            <a:ext cx="7683075" cy="356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b="true" sz="2567">
                <a:solidFill>
                  <a:srgbClr val="58A6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▸</a:t>
            </a:r>
            <a:r>
              <a:rPr lang="en-US" b="true" sz="2567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b="true" sz="2567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Genre: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 2D mining dan spaceflight</a:t>
            </a:r>
          </a:p>
          <a:p>
            <a:pPr algn="l">
              <a:lnSpc>
                <a:spcPts val="4082"/>
              </a:lnSpc>
            </a:pPr>
            <a:r>
              <a:rPr lang="en-US" sz="2567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567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Bertahan &amp; Gali: 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Kelola baterai jetpack dan</a:t>
            </a:r>
          </a:p>
          <a:p>
            <a:pPr algn="l">
              <a:lnSpc>
                <a:spcPts val="4082"/>
              </a:lnSpc>
            </a:pP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   m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enjelajahi lapisan geologi </a:t>
            </a:r>
          </a:p>
          <a:p>
            <a:pPr algn="l">
              <a:lnSpc>
                <a:spcPts val="4082"/>
              </a:lnSpc>
            </a:pPr>
            <a:r>
              <a:rPr lang="en-US" sz="2567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567">
                <a:solidFill>
                  <a:srgbClr val="E6EDF3"/>
                </a:solidFill>
                <a:latin typeface="Inter Bold"/>
                <a:ea typeface="Inter Bold"/>
                <a:cs typeface="Inter Bold"/>
                <a:sym typeface="Inter Bold"/>
              </a:rPr>
              <a:t>Otomatisasi: 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Beralih dari penambangan manual</a:t>
            </a:r>
          </a:p>
          <a:p>
            <a:pPr algn="l">
              <a:lnSpc>
                <a:spcPts val="4082"/>
              </a:lnSpc>
            </a:pP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ke jaringan mesin yang saling terhubung</a:t>
            </a:r>
          </a:p>
          <a:p>
            <a:pPr algn="l">
              <a:lnSpc>
                <a:spcPts val="4082"/>
              </a:lnSpc>
            </a:pPr>
            <a:r>
              <a:rPr lang="en-US" sz="2567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567">
                <a:solidFill>
                  <a:srgbClr val="E6EDF3"/>
                </a:solidFill>
                <a:latin typeface="Inter Bold"/>
                <a:ea typeface="Inter Bold"/>
                <a:cs typeface="Inter Bold"/>
                <a:sym typeface="Inter Bold"/>
              </a:rPr>
              <a:t>Menang: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Olah material endgame dan luncurkan</a:t>
            </a:r>
          </a:p>
          <a:p>
            <a:pPr algn="l">
              <a:lnSpc>
                <a:spcPts val="4082"/>
              </a:lnSpc>
            </a:pP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2567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roket untuk menang.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950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// GAMBARAN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90520" y="304800"/>
            <a:ext cx="17830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ASTRODRILL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Alur Gameplay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952500" y="4978051"/>
            <a:ext cx="1376934" cy="504825"/>
            <a:chOff x="0" y="0"/>
            <a:chExt cx="1835912" cy="673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5912" cy="673100"/>
            </a:xfrm>
            <a:custGeom>
              <a:avLst/>
              <a:gdLst/>
              <a:ahLst/>
              <a:cxnLst/>
              <a:rect r="r" b="b" t="t" l="l"/>
              <a:pathLst>
                <a:path h="673100" w="1835912">
                  <a:moveTo>
                    <a:pt x="0" y="0"/>
                  </a:moveTo>
                  <a:lnTo>
                    <a:pt x="1835912" y="0"/>
                  </a:lnTo>
                  <a:lnTo>
                    <a:pt x="1835912" y="673100"/>
                  </a:lnTo>
                  <a:lnTo>
                    <a:pt x="0" y="67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5912" cy="711200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2520"/>
                </a:lnSpc>
              </a:pPr>
              <a:r>
                <a:rPr lang="en-US" sz="1800" spc="252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MINING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62784" y="4978051"/>
            <a:ext cx="1884426" cy="504825"/>
            <a:chOff x="0" y="0"/>
            <a:chExt cx="2512568" cy="673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12568" cy="673100"/>
            </a:xfrm>
            <a:custGeom>
              <a:avLst/>
              <a:gdLst/>
              <a:ahLst/>
              <a:cxnLst/>
              <a:rect r="r" b="b" t="t" l="l"/>
              <a:pathLst>
                <a:path h="673100" w="2512568">
                  <a:moveTo>
                    <a:pt x="0" y="0"/>
                  </a:moveTo>
                  <a:lnTo>
                    <a:pt x="2512568" y="0"/>
                  </a:lnTo>
                  <a:lnTo>
                    <a:pt x="2512568" y="673100"/>
                  </a:lnTo>
                  <a:lnTo>
                    <a:pt x="0" y="67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12568" cy="711200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2520"/>
                </a:lnSpc>
              </a:pPr>
              <a:r>
                <a:rPr lang="en-US" sz="1800" spc="252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AUTO-BANK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80655" y="4978051"/>
            <a:ext cx="1715357" cy="504825"/>
            <a:chOff x="0" y="0"/>
            <a:chExt cx="2287143" cy="673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7143" cy="673100"/>
            </a:xfrm>
            <a:custGeom>
              <a:avLst/>
              <a:gdLst/>
              <a:ahLst/>
              <a:cxnLst/>
              <a:rect r="r" b="b" t="t" l="l"/>
              <a:pathLst>
                <a:path h="673100" w="2287143">
                  <a:moveTo>
                    <a:pt x="0" y="0"/>
                  </a:moveTo>
                  <a:lnTo>
                    <a:pt x="2287143" y="0"/>
                  </a:lnTo>
                  <a:lnTo>
                    <a:pt x="2287143" y="673100"/>
                  </a:lnTo>
                  <a:lnTo>
                    <a:pt x="0" y="67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87143" cy="711200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2520"/>
                </a:lnSpc>
              </a:pPr>
              <a:r>
                <a:rPr lang="en-US" sz="1800" spc="252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CRAFTING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29362" y="4978051"/>
            <a:ext cx="2053685" cy="504825"/>
            <a:chOff x="0" y="0"/>
            <a:chExt cx="2738247" cy="673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38247" cy="673100"/>
            </a:xfrm>
            <a:custGeom>
              <a:avLst/>
              <a:gdLst/>
              <a:ahLst/>
              <a:cxnLst/>
              <a:rect r="r" b="b" t="t" l="l"/>
              <a:pathLst>
                <a:path h="673100" w="2738247">
                  <a:moveTo>
                    <a:pt x="0" y="0"/>
                  </a:moveTo>
                  <a:lnTo>
                    <a:pt x="2738247" y="0"/>
                  </a:lnTo>
                  <a:lnTo>
                    <a:pt x="2738247" y="673100"/>
                  </a:lnTo>
                  <a:lnTo>
                    <a:pt x="0" y="67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38247" cy="711200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2520"/>
                </a:lnSpc>
              </a:pPr>
              <a:r>
                <a:rPr lang="en-US" sz="1800" spc="252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CARGO GATE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5616226"/>
            <a:ext cx="1376934" cy="504825"/>
            <a:chOff x="0" y="0"/>
            <a:chExt cx="1835912" cy="673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5912" cy="673100"/>
            </a:xfrm>
            <a:custGeom>
              <a:avLst/>
              <a:gdLst/>
              <a:ahLst/>
              <a:cxnLst/>
              <a:rect r="r" b="b" t="t" l="l"/>
              <a:pathLst>
                <a:path h="673100" w="1835912">
                  <a:moveTo>
                    <a:pt x="0" y="0"/>
                  </a:moveTo>
                  <a:lnTo>
                    <a:pt x="1835912" y="0"/>
                  </a:lnTo>
                  <a:lnTo>
                    <a:pt x="1835912" y="673100"/>
                  </a:lnTo>
                  <a:lnTo>
                    <a:pt x="0" y="67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8A6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35912" cy="711200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2520"/>
                </a:lnSpc>
              </a:pPr>
              <a:r>
                <a:rPr lang="en-US" sz="1800" spc="252">
                  <a:solidFill>
                    <a:srgbClr val="58A6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FLIGHT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28501" y="528638"/>
            <a:ext cx="2460510" cy="9138952"/>
            <a:chOff x="0" y="0"/>
            <a:chExt cx="2577338" cy="95728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77338" cy="9572879"/>
            </a:xfrm>
            <a:custGeom>
              <a:avLst/>
              <a:gdLst/>
              <a:ahLst/>
              <a:cxnLst/>
              <a:rect r="r" b="b" t="t" l="l"/>
              <a:pathLst>
                <a:path h="9572879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9572879"/>
                  </a:lnTo>
                  <a:lnTo>
                    <a:pt x="0" y="9572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9" r="0" b="-8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14400" y="3059811"/>
            <a:ext cx="7547420" cy="90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Mining, auto-bank di hub, crafting, otomatisasi, peluncuran.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2500" y="4103656"/>
            <a:ext cx="754742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  Cargo/material gate menjembatani fase mining dan flight.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3950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// GAMEPLAY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68828" y="304800"/>
            <a:ext cx="160477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FLOWCHART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Tech Stack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914400" y="2297335"/>
            <a:ext cx="371465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449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FRONTEND (GAME)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2840260"/>
            <a:ext cx="7848600" cy="192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LibGDX 1.13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, Java 17, Gradle</a:t>
            </a:r>
          </a:p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Box2D untuk physics flight</a:t>
            </a:r>
          </a:p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Custom AABB untuk mining</a:t>
            </a:r>
          </a:p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Scene2D HUD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0" y="2297335"/>
            <a:ext cx="767676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449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BACKEND (REST API) DAN DATABASE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0" y="2840260"/>
            <a:ext cx="8229600" cy="241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Spring Boot 4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, Java 17, Maven</a:t>
            </a:r>
          </a:p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JPA, BCrypt, Jakarta Validation</a:t>
            </a:r>
          </a:p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PostgreSQL dengan skema ternormalisasi</a:t>
            </a:r>
          </a:p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Gson untuk serialisasi JSON</a:t>
            </a:r>
          </a:p>
          <a:p>
            <a:pPr algn="l">
              <a:lnSpc>
                <a:spcPts val="3842"/>
              </a:lnSpc>
            </a:pPr>
            <a:r>
              <a:rPr lang="en-US" sz="2649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49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Self-hosted: Docker + Tailscale Funnel (HTTPS)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23950" y="304800"/>
            <a:ext cx="28530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// TECH STACK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63961" y="304800"/>
            <a:ext cx="32096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FRONTEND + BACKEND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" y="9410700"/>
            <a:ext cx="533400" cy="533400"/>
            <a:chOff x="0" y="0"/>
            <a:chExt cx="7112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Arsitektur Repository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8882256" y="1349597"/>
            <a:ext cx="10100975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Ked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ua aplikasi independen menggunakan satu script launcher.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33500" y="2116360"/>
            <a:ext cx="15097513" cy="7642003"/>
            <a:chOff x="0" y="0"/>
            <a:chExt cx="12436422" cy="62950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6422" cy="6295022"/>
            </a:xfrm>
            <a:custGeom>
              <a:avLst/>
              <a:gdLst/>
              <a:ahLst/>
              <a:cxnLst/>
              <a:rect r="r" b="b" t="t" l="l"/>
              <a:pathLst>
                <a:path h="6295022" w="12436422">
                  <a:moveTo>
                    <a:pt x="46842" y="0"/>
                  </a:moveTo>
                  <a:lnTo>
                    <a:pt x="12389580" y="0"/>
                  </a:lnTo>
                  <a:cubicBezTo>
                    <a:pt x="12415459" y="0"/>
                    <a:pt x="12436422" y="35001"/>
                    <a:pt x="12436422" y="78214"/>
                  </a:cubicBezTo>
                  <a:lnTo>
                    <a:pt x="12436422" y="6216808"/>
                  </a:lnTo>
                  <a:cubicBezTo>
                    <a:pt x="12436422" y="6260021"/>
                    <a:pt x="12415459" y="6295022"/>
                    <a:pt x="12389580" y="6295022"/>
                  </a:cubicBezTo>
                  <a:lnTo>
                    <a:pt x="46842" y="6295022"/>
                  </a:lnTo>
                  <a:cubicBezTo>
                    <a:pt x="20962" y="6295022"/>
                    <a:pt x="0" y="6260021"/>
                    <a:pt x="0" y="6216808"/>
                  </a:cubicBezTo>
                  <a:lnTo>
                    <a:pt x="0" y="78214"/>
                  </a:lnTo>
                  <a:cubicBezTo>
                    <a:pt x="0" y="35001"/>
                    <a:pt x="20962" y="0"/>
                    <a:pt x="46842" y="0"/>
                  </a:cubicBezTo>
                  <a:close/>
                </a:path>
              </a:pathLst>
            </a:custGeom>
            <a:solidFill>
              <a:srgbClr val="01040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36422" cy="6295022"/>
            </a:xfrm>
            <a:custGeom>
              <a:avLst/>
              <a:gdLst/>
              <a:ahLst/>
              <a:cxnLst/>
              <a:rect r="r" b="b" t="t" l="l"/>
              <a:pathLst>
                <a:path h="6295022" w="12436422">
                  <a:moveTo>
                    <a:pt x="46842" y="0"/>
                  </a:moveTo>
                  <a:lnTo>
                    <a:pt x="12389580" y="0"/>
                  </a:lnTo>
                  <a:cubicBezTo>
                    <a:pt x="12415459" y="0"/>
                    <a:pt x="12436422" y="35001"/>
                    <a:pt x="12436422" y="78214"/>
                  </a:cubicBezTo>
                  <a:lnTo>
                    <a:pt x="12436422" y="6216808"/>
                  </a:lnTo>
                  <a:cubicBezTo>
                    <a:pt x="12436422" y="6260021"/>
                    <a:pt x="12415459" y="6295022"/>
                    <a:pt x="12389580" y="6295022"/>
                  </a:cubicBezTo>
                  <a:lnTo>
                    <a:pt x="46842" y="6295022"/>
                  </a:lnTo>
                  <a:cubicBezTo>
                    <a:pt x="20962" y="6295022"/>
                    <a:pt x="0" y="6260021"/>
                    <a:pt x="0" y="6216808"/>
                  </a:cubicBezTo>
                  <a:lnTo>
                    <a:pt x="0" y="78214"/>
                  </a:lnTo>
                  <a:cubicBezTo>
                    <a:pt x="0" y="35001"/>
                    <a:pt x="20962" y="0"/>
                    <a:pt x="46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3709692" y="2349019"/>
            <a:ext cx="10868616" cy="711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AstroDrill/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Game/                             </a:t>
            </a:r>
            <a:r>
              <a:rPr lang="en-US" sz="1601">
                <a:solidFill>
                  <a:srgbClr val="0104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LibGDX client (core, lwjgl3, html)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└── core/.../astrodrill/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screen/ 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 layar (Login, Play, Flight, ...)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entity/ 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Player, Block, Rocket, LanderHub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machine/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Machine + 11 subclass + MachineFactory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strategy/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EngineStrategy (Chemical, Ion)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observer/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VaultObserver, InventoryObserver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crafting/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MachineRecipe, UpgradeDefinition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network/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BackendClient + DTO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└── GameManager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Singleton, transisi layar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Backend/            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Spring Boot REST API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</a:t>
            </a:r>
            <a:r>
              <a:rPr lang="en-US" sz="1601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├── Dockerfile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multi-stage build (Maven → JRE Alpine)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</a:t>
            </a:r>
            <a:r>
              <a:rPr lang="en-US" sz="1601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├── docker-compose.yml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backend + PostgreSQL container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└── src/main/java/.../backend/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controller/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GameController, exception handler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service/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AuthService, GameService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entity/ 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Player, SaveState, Leaderboard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├── repository/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JPA repository (3 entity)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   └── dto/    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Request/Response DTO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docs/          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Dokumentasi, diagram, slides</a:t>
            </a:r>
          </a:p>
          <a:p>
            <a:pPr algn="l">
              <a:lnSpc>
                <a:spcPts val="2562"/>
              </a:lnSpc>
            </a:pPr>
            <a:r>
              <a:rPr lang="en-US" sz="1601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</a:t>
            </a: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1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package.json</a:t>
            </a:r>
            <a:r>
              <a:rPr lang="en-US" sz="1601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</a:t>
            </a:r>
            <a:r>
              <a:rPr lang="en-US" sz="1601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npm run dev menjalankan keduanya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23950" y="304800"/>
            <a:ext cx="28530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// ARSITEKTUR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47041" y="304800"/>
            <a:ext cx="142655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MONOREPO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4" id="4"/>
          <p:cNvSpPr/>
          <p:nvPr/>
        </p:nvSpPr>
        <p:spPr>
          <a:xfrm rot="0">
            <a:off x="767888" y="2690730"/>
            <a:ext cx="10303038" cy="6360697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123950" y="3173635"/>
            <a:ext cx="9590913" cy="5394889"/>
            <a:chOff x="0" y="0"/>
            <a:chExt cx="9956800" cy="5600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56800" cy="5600700"/>
            </a:xfrm>
            <a:custGeom>
              <a:avLst/>
              <a:gdLst/>
              <a:ahLst/>
              <a:cxnLst/>
              <a:rect r="r" b="b" t="t" l="l"/>
              <a:pathLst>
                <a:path h="5600700" w="9956800">
                  <a:moveTo>
                    <a:pt x="0" y="0"/>
                  </a:moveTo>
                  <a:lnTo>
                    <a:pt x="9956800" y="0"/>
                  </a:lnTo>
                  <a:lnTo>
                    <a:pt x="9956800" y="5600700"/>
                  </a:lnTo>
                  <a:lnTo>
                    <a:pt x="0" y="560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1" t="0" r="-11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SCHEMA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Desain Database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9263" y="4661011"/>
            <a:ext cx="612533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24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RELASI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9263" y="5175361"/>
            <a:ext cx="6125337" cy="154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Tiga tabel ternormalisasi, hanya PostgreSQL</a:t>
            </a:r>
          </a:p>
          <a:p>
            <a:pPr algn="l">
              <a:lnSpc>
                <a:spcPts val="3139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b="true" sz="1950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Player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memiliki banyak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SaveState</a:t>
            </a:r>
          </a:p>
          <a:p>
            <a:pPr algn="l">
              <a:lnSpc>
                <a:spcPts val="3139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b="true" sz="1950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Player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memiliki satu baris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Leaderboard</a:t>
            </a:r>
          </a:p>
          <a:p>
            <a:pPr algn="l">
              <a:lnSpc>
                <a:spcPts val="3139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1950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SaveState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menyimpan world delta sebagai JSON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3950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// DATABASE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38581" y="304800"/>
            <a:ext cx="53501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50830" y="-12478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REST API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6" id="6"/>
          <p:cNvSpPr/>
          <p:nvPr/>
        </p:nvSpPr>
        <p:spPr>
          <a:xfrm rot="0">
            <a:off x="914400" y="2344960"/>
            <a:ext cx="16459200" cy="4552950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 rot="0">
            <a:off x="1266825" y="3216497"/>
            <a:ext cx="2205514" cy="9525"/>
          </a:xfrm>
          <a:prstGeom prst="rect">
            <a:avLst/>
          </a:prstGeom>
          <a:solidFill>
            <a:srgbClr val="30363D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504950" y="2716435"/>
            <a:ext cx="2205514" cy="68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24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METHOD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3472339" y="3216497"/>
            <a:ext cx="9767888" cy="9525"/>
          </a:xfrm>
          <a:prstGeom prst="rect">
            <a:avLst/>
          </a:prstGeom>
          <a:solidFill>
            <a:srgbClr val="30363D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3710464" y="2716435"/>
            <a:ext cx="9767888" cy="68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24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PATH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13240226" y="3216497"/>
            <a:ext cx="3780949" cy="9525"/>
          </a:xfrm>
          <a:prstGeom prst="rect">
            <a:avLst/>
          </a:prstGeom>
          <a:solidFill>
            <a:srgbClr val="30363D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3478351" y="2716435"/>
            <a:ext cx="3780949" cy="68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24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STATUS CODES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1266825" y="3902297"/>
            <a:ext cx="2205514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1504950" y="3378422"/>
            <a:ext cx="220551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7EE78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POST</a:t>
            </a:r>
          </a:p>
        </p:txBody>
      </p:sp>
      <p:sp>
        <p:nvSpPr>
          <p:cNvPr name="AutoShape 15" id="15"/>
          <p:cNvSpPr/>
          <p:nvPr/>
        </p:nvSpPr>
        <p:spPr>
          <a:xfrm rot="0">
            <a:off x="3472339" y="3902297"/>
            <a:ext cx="9767888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3710464" y="3378422"/>
            <a:ext cx="976788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/register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3240226" y="3902297"/>
            <a:ext cx="3780949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3478351" y="3378422"/>
            <a:ext cx="378094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201, 409</a:t>
            </a:r>
          </a:p>
        </p:txBody>
      </p:sp>
      <p:sp>
        <p:nvSpPr>
          <p:cNvPr name="AutoShape 19" id="19"/>
          <p:cNvSpPr/>
          <p:nvPr/>
        </p:nvSpPr>
        <p:spPr>
          <a:xfrm rot="0">
            <a:off x="1266825" y="4588097"/>
            <a:ext cx="2205514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20" id="20"/>
          <p:cNvSpPr txBox="true"/>
          <p:nvPr/>
        </p:nvSpPr>
        <p:spPr>
          <a:xfrm rot="0">
            <a:off x="1504950" y="4064222"/>
            <a:ext cx="220551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7EE78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POST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3472339" y="4588097"/>
            <a:ext cx="9767888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3710464" y="4064222"/>
            <a:ext cx="97678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/login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13240226" y="4588097"/>
            <a:ext cx="3780949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13478351" y="4064222"/>
            <a:ext cx="378094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200, 401</a:t>
            </a:r>
          </a:p>
        </p:txBody>
      </p:sp>
      <p:sp>
        <p:nvSpPr>
          <p:cNvPr name="AutoShape 25" id="25"/>
          <p:cNvSpPr/>
          <p:nvPr/>
        </p:nvSpPr>
        <p:spPr>
          <a:xfrm rot="0">
            <a:off x="1266825" y="5273897"/>
            <a:ext cx="2205514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26" id="26"/>
          <p:cNvSpPr txBox="true"/>
          <p:nvPr/>
        </p:nvSpPr>
        <p:spPr>
          <a:xfrm rot="0">
            <a:off x="1504950" y="4750022"/>
            <a:ext cx="220551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7EE78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POST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3472339" y="5273897"/>
            <a:ext cx="9767888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3710464" y="4750022"/>
            <a:ext cx="97678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/save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13240226" y="5273897"/>
            <a:ext cx="3780949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13478351" y="4750022"/>
            <a:ext cx="378094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200, 404</a:t>
            </a:r>
          </a:p>
        </p:txBody>
      </p:sp>
      <p:sp>
        <p:nvSpPr>
          <p:cNvPr name="AutoShape 31" id="31"/>
          <p:cNvSpPr/>
          <p:nvPr/>
        </p:nvSpPr>
        <p:spPr>
          <a:xfrm rot="0">
            <a:off x="1266825" y="5959697"/>
            <a:ext cx="2205514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32" id="32"/>
          <p:cNvSpPr txBox="true"/>
          <p:nvPr/>
        </p:nvSpPr>
        <p:spPr>
          <a:xfrm rot="0">
            <a:off x="1504950" y="5435822"/>
            <a:ext cx="220551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79C0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GET</a:t>
            </a:r>
          </a:p>
        </p:txBody>
      </p:sp>
      <p:sp>
        <p:nvSpPr>
          <p:cNvPr name="AutoShape 33" id="33"/>
          <p:cNvSpPr/>
          <p:nvPr/>
        </p:nvSpPr>
        <p:spPr>
          <a:xfrm rot="0">
            <a:off x="3472339" y="5959697"/>
            <a:ext cx="9767888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3710464" y="5435822"/>
            <a:ext cx="97678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/load/{playerId}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13240226" y="5959697"/>
            <a:ext cx="3780949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36" id="36"/>
          <p:cNvSpPr txBox="true"/>
          <p:nvPr/>
        </p:nvSpPr>
        <p:spPr>
          <a:xfrm rot="0">
            <a:off x="13478351" y="5435822"/>
            <a:ext cx="378094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200, 404</a:t>
            </a:r>
          </a:p>
        </p:txBody>
      </p:sp>
      <p:sp>
        <p:nvSpPr>
          <p:cNvPr name="AutoShape 37" id="37"/>
          <p:cNvSpPr/>
          <p:nvPr/>
        </p:nvSpPr>
        <p:spPr>
          <a:xfrm rot="0">
            <a:off x="1266825" y="6645497"/>
            <a:ext cx="2205514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38" id="38"/>
          <p:cNvSpPr txBox="true"/>
          <p:nvPr/>
        </p:nvSpPr>
        <p:spPr>
          <a:xfrm rot="0">
            <a:off x="1504950" y="6121622"/>
            <a:ext cx="220551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79C0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GET</a:t>
            </a:r>
          </a:p>
        </p:txBody>
      </p:sp>
      <p:sp>
        <p:nvSpPr>
          <p:cNvPr name="AutoShape 39" id="39"/>
          <p:cNvSpPr/>
          <p:nvPr/>
        </p:nvSpPr>
        <p:spPr>
          <a:xfrm rot="0">
            <a:off x="3472339" y="6645497"/>
            <a:ext cx="9767888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40" id="40"/>
          <p:cNvSpPr txBox="true"/>
          <p:nvPr/>
        </p:nvSpPr>
        <p:spPr>
          <a:xfrm rot="0">
            <a:off x="3710464" y="6121622"/>
            <a:ext cx="97678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/leaderboard</a:t>
            </a:r>
          </a:p>
        </p:txBody>
      </p:sp>
      <p:sp>
        <p:nvSpPr>
          <p:cNvPr name="AutoShape 41" id="41"/>
          <p:cNvSpPr/>
          <p:nvPr/>
        </p:nvSpPr>
        <p:spPr>
          <a:xfrm rot="0">
            <a:off x="13240226" y="6645497"/>
            <a:ext cx="3780949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TextBox 42" id="42"/>
          <p:cNvSpPr txBox="true"/>
          <p:nvPr/>
        </p:nvSpPr>
        <p:spPr>
          <a:xfrm rot="0">
            <a:off x="13478351" y="6121622"/>
            <a:ext cx="378094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4400" y="7221760"/>
            <a:ext cx="16459200" cy="105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Base path: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/api/game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Error melewati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GlobalExceptionHandler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F0883E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F0883E"/>
                </a:solidFill>
                <a:latin typeface="Inter"/>
                <a:ea typeface="Inter"/>
                <a:cs typeface="Inter"/>
                <a:sym typeface="Inter"/>
              </a:rPr>
              <a:t>Auth: hanya BCrypt, tanpa JWT (single-player)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23950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// REST API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412212" y="304800"/>
            <a:ext cx="196138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ENDPOINTS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4" id="4"/>
          <p:cNvSpPr/>
          <p:nvPr/>
        </p:nvSpPr>
        <p:spPr>
          <a:xfrm rot="0">
            <a:off x="914400" y="2344960"/>
            <a:ext cx="10027253" cy="7180040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298490" y="3245201"/>
            <a:ext cx="9259072" cy="5515289"/>
            <a:chOff x="0" y="0"/>
            <a:chExt cx="9956800" cy="5930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56800" cy="5930900"/>
            </a:xfrm>
            <a:custGeom>
              <a:avLst/>
              <a:gdLst/>
              <a:ahLst/>
              <a:cxnLst/>
              <a:rect r="r" b="b" t="t" l="l"/>
              <a:pathLst>
                <a:path h="5930900" w="9956800">
                  <a:moveTo>
                    <a:pt x="0" y="0"/>
                  </a:moveTo>
                  <a:lnTo>
                    <a:pt x="9956800" y="0"/>
                  </a:lnTo>
                  <a:lnTo>
                    <a:pt x="9956800" y="5930900"/>
                  </a:lnTo>
                  <a:lnTo>
                    <a:pt x="0" y="593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09" t="0" r="-190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SEQUENCE DIAGRAM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1133475"/>
            <a:ext cx="5035296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Sequence: Save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75053" y="4950333"/>
            <a:ext cx="6279547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F5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/ Main menu → Save &amp; Exit di PlayScreen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serialisasi world delta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POST ke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/api/game/save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GameService update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SaveState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Leaderboard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3950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// SEQUENCE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90520" y="304800"/>
            <a:ext cx="17830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F5 // SAVE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4" id="4"/>
          <p:cNvSpPr/>
          <p:nvPr/>
        </p:nvSpPr>
        <p:spPr>
          <a:xfrm rot="0">
            <a:off x="914400" y="3287935"/>
            <a:ext cx="10027253" cy="5644961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369605" y="3955414"/>
            <a:ext cx="9116844" cy="4453764"/>
            <a:chOff x="0" y="0"/>
            <a:chExt cx="9956800" cy="4864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56800" cy="4864100"/>
            </a:xfrm>
            <a:custGeom>
              <a:avLst/>
              <a:gdLst/>
              <a:ahLst/>
              <a:cxnLst/>
              <a:rect r="r" b="b" t="t" l="l"/>
              <a:pathLst>
                <a:path h="4864100" w="9956800">
                  <a:moveTo>
                    <a:pt x="0" y="0"/>
                  </a:moveTo>
                  <a:lnTo>
                    <a:pt x="9956800" y="0"/>
                  </a:lnTo>
                  <a:lnTo>
                    <a:pt x="9956800" y="4864100"/>
                  </a:lnTo>
                  <a:lnTo>
                    <a:pt x="0" y="486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29" t="0" r="-252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SEQUENCE DIAGRAM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Sequence: Load (Continue)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75053" y="5129784"/>
            <a:ext cx="5898547" cy="105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Continue memanggil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GET /load/{playerId}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World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di-regenerate dari seed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Saved delta diaplikasikan di atasnya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3950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// SEQUENCE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20577" y="304800"/>
            <a:ext cx="28530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CONTINUE // LOAD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4" id="4"/>
          <p:cNvSpPr/>
          <p:nvPr/>
        </p:nvSpPr>
        <p:spPr>
          <a:xfrm rot="0">
            <a:off x="914400" y="2344960"/>
            <a:ext cx="9001411" cy="7180040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3287744" y="2525935"/>
            <a:ext cx="4254532" cy="6817995"/>
            <a:chOff x="0" y="0"/>
            <a:chExt cx="5672709" cy="9090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72709" cy="9090660"/>
            </a:xfrm>
            <a:custGeom>
              <a:avLst/>
              <a:gdLst/>
              <a:ahLst/>
              <a:cxnLst/>
              <a:rect r="r" b="b" t="t" l="l"/>
              <a:pathLst>
                <a:path h="9090660" w="5672709">
                  <a:moveTo>
                    <a:pt x="0" y="0"/>
                  </a:moveTo>
                  <a:lnTo>
                    <a:pt x="5672709" y="0"/>
                  </a:lnTo>
                  <a:lnTo>
                    <a:pt x="5672709" y="9090660"/>
                  </a:lnTo>
                  <a:lnTo>
                    <a:pt x="0" y="909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" r="0" b="-2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STATE DIAGRAM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State Machine Layar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9211" y="5129784"/>
            <a:ext cx="6924389" cy="105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Satu entry point: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changeScreen(ScreenType)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Enam layar, nested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FlightState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Pattern State di dua level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3950" y="304800"/>
            <a:ext cx="196138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// STATE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33904" y="304800"/>
            <a:ext cx="21396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SCREEN STATE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 PATTERNS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Enam Design Pattern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179251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Enam pattern GoF (tanpa Game Loop), semuanya load-bearing.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914400" y="2430685"/>
            <a:ext cx="5308568" cy="3490055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95375" y="4930045"/>
            <a:ext cx="49466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Singleton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75" y="5368195"/>
            <a:ext cx="494661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2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GameManager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095375" y="2611660"/>
            <a:ext cx="4946618" cy="2223230"/>
          </a:xfrm>
          <a:prstGeom prst="rect">
            <a:avLst/>
          </a:prstGeom>
          <a:solidFill>
            <a:srgbClr val="0D1117"/>
          </a:solidFill>
          <a:ln w="9525" cap="sq">
            <a:solidFill>
              <a:srgbClr val="21262D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2705672" y="2665381"/>
            <a:ext cx="1725835" cy="2115788"/>
            <a:chOff x="0" y="0"/>
            <a:chExt cx="2301113" cy="2821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1113" cy="2821051"/>
            </a:xfrm>
            <a:custGeom>
              <a:avLst/>
              <a:gdLst/>
              <a:ahLst/>
              <a:cxnLst/>
              <a:rect r="r" b="b" t="t" l="l"/>
              <a:pathLst>
                <a:path h="2821051" w="2301113">
                  <a:moveTo>
                    <a:pt x="0" y="0"/>
                  </a:moveTo>
                  <a:lnTo>
                    <a:pt x="2301113" y="0"/>
                  </a:lnTo>
                  <a:lnTo>
                    <a:pt x="2301113" y="2821051"/>
                  </a:lnTo>
                  <a:lnTo>
                    <a:pt x="0" y="2821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1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04332" y="2535460"/>
            <a:ext cx="3567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6489668" y="2430685"/>
            <a:ext cx="5308568" cy="3490055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6670643" y="4930045"/>
            <a:ext cx="49466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Object Pool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70643" y="5368195"/>
            <a:ext cx="494661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2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Pool&lt;Block&gt;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6670643" y="2611660"/>
            <a:ext cx="4946618" cy="2223230"/>
          </a:xfrm>
          <a:prstGeom prst="rect">
            <a:avLst/>
          </a:prstGeom>
          <a:solidFill>
            <a:srgbClr val="0D1117"/>
          </a:solidFill>
          <a:ln w="9525" cap="sq">
            <a:solidFill>
              <a:srgbClr val="21262D"/>
            </a:solidFill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8317420" y="2665381"/>
            <a:ext cx="1653064" cy="2115788"/>
            <a:chOff x="0" y="0"/>
            <a:chExt cx="2204085" cy="2821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4085" cy="2821051"/>
            </a:xfrm>
            <a:custGeom>
              <a:avLst/>
              <a:gdLst/>
              <a:ahLst/>
              <a:cxnLst/>
              <a:rect r="r" b="b" t="t" l="l"/>
              <a:pathLst>
                <a:path h="2821051" w="2204085">
                  <a:moveTo>
                    <a:pt x="0" y="0"/>
                  </a:moveTo>
                  <a:lnTo>
                    <a:pt x="2204085" y="0"/>
                  </a:lnTo>
                  <a:lnTo>
                    <a:pt x="2204085" y="2821051"/>
                  </a:lnTo>
                  <a:lnTo>
                    <a:pt x="0" y="2821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2" t="0" r="3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279505" y="2535460"/>
            <a:ext cx="3567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12064937" y="2430685"/>
            <a:ext cx="5308568" cy="3490055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12245912" y="4930045"/>
            <a:ext cx="49466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Observer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45912" y="5368195"/>
            <a:ext cx="494661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2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VaultObserver, InventoryObserver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12245912" y="2611660"/>
            <a:ext cx="4946618" cy="2223230"/>
          </a:xfrm>
          <a:prstGeom prst="rect">
            <a:avLst/>
          </a:prstGeom>
          <a:solidFill>
            <a:srgbClr val="0D1117"/>
          </a:solidFill>
          <a:ln w="9525" cap="sq">
            <a:solidFill>
              <a:srgbClr val="21262D"/>
            </a:solidFill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13264039" y="2665381"/>
            <a:ext cx="2910173" cy="2115788"/>
            <a:chOff x="0" y="0"/>
            <a:chExt cx="3880231" cy="28210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80231" cy="2821051"/>
            </a:xfrm>
            <a:custGeom>
              <a:avLst/>
              <a:gdLst/>
              <a:ahLst/>
              <a:cxnLst/>
              <a:rect r="r" b="b" t="t" l="l"/>
              <a:pathLst>
                <a:path h="2821051" w="3880231">
                  <a:moveTo>
                    <a:pt x="0" y="0"/>
                  </a:moveTo>
                  <a:lnTo>
                    <a:pt x="3880231" y="0"/>
                  </a:lnTo>
                  <a:lnTo>
                    <a:pt x="3880231" y="2821051"/>
                  </a:lnTo>
                  <a:lnTo>
                    <a:pt x="0" y="2821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854773" y="2535460"/>
            <a:ext cx="3567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14400" y="6187345"/>
            <a:ext cx="5308568" cy="3490055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1095375" y="8686800"/>
            <a:ext cx="49466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Factory Method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5375" y="9124950"/>
            <a:ext cx="494661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2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MachineFactory</a:t>
            </a:r>
          </a:p>
        </p:txBody>
      </p:sp>
      <p:sp>
        <p:nvSpPr>
          <p:cNvPr name="AutoShape 30" id="30"/>
          <p:cNvSpPr/>
          <p:nvPr/>
        </p:nvSpPr>
        <p:spPr>
          <a:xfrm rot="0">
            <a:off x="1095375" y="6368320"/>
            <a:ext cx="4946618" cy="2223230"/>
          </a:xfrm>
          <a:prstGeom prst="rect">
            <a:avLst/>
          </a:prstGeom>
          <a:solidFill>
            <a:srgbClr val="0D1117"/>
          </a:solidFill>
          <a:ln w="9525" cap="sq">
            <a:solidFill>
              <a:srgbClr val="21262D"/>
            </a:solidFill>
            <a:prstDash val="solid"/>
            <a:miter/>
          </a:ln>
        </p:spPr>
      </p:sp>
      <p:grpSp>
        <p:nvGrpSpPr>
          <p:cNvPr name="Group 31" id="31"/>
          <p:cNvGrpSpPr/>
          <p:nvPr/>
        </p:nvGrpSpPr>
        <p:grpSpPr>
          <a:xfrm rot="0">
            <a:off x="1203388" y="6656356"/>
            <a:ext cx="4730401" cy="1647063"/>
            <a:chOff x="0" y="0"/>
            <a:chExt cx="6307201" cy="21960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07201" cy="2196084"/>
            </a:xfrm>
            <a:custGeom>
              <a:avLst/>
              <a:gdLst/>
              <a:ahLst/>
              <a:cxnLst/>
              <a:rect r="r" b="b" t="t" l="l"/>
              <a:pathLst>
                <a:path h="2196084" w="6307201">
                  <a:moveTo>
                    <a:pt x="0" y="0"/>
                  </a:moveTo>
                  <a:lnTo>
                    <a:pt x="6307201" y="0"/>
                  </a:lnTo>
                  <a:lnTo>
                    <a:pt x="6307201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4" t="0" r="3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704332" y="6292120"/>
            <a:ext cx="3567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AutoShape 34" id="34"/>
          <p:cNvSpPr/>
          <p:nvPr/>
        </p:nvSpPr>
        <p:spPr>
          <a:xfrm rot="0">
            <a:off x="6489668" y="6187345"/>
            <a:ext cx="5308568" cy="3490055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6670643" y="8686800"/>
            <a:ext cx="49466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Strategy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70643" y="9124950"/>
            <a:ext cx="494661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2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EngineStrategy</a:t>
            </a:r>
          </a:p>
        </p:txBody>
      </p:sp>
      <p:sp>
        <p:nvSpPr>
          <p:cNvPr name="AutoShape 37" id="37"/>
          <p:cNvSpPr/>
          <p:nvPr/>
        </p:nvSpPr>
        <p:spPr>
          <a:xfrm rot="0">
            <a:off x="6670643" y="6368320"/>
            <a:ext cx="4946618" cy="2223230"/>
          </a:xfrm>
          <a:prstGeom prst="rect">
            <a:avLst/>
          </a:prstGeom>
          <a:solidFill>
            <a:srgbClr val="0D1117"/>
          </a:solidFill>
          <a:ln w="9525" cap="sq">
            <a:solidFill>
              <a:srgbClr val="21262D"/>
            </a:solidFill>
            <a:prstDash val="solid"/>
            <a:miter/>
          </a:ln>
        </p:spPr>
      </p:sp>
      <p:grpSp>
        <p:nvGrpSpPr>
          <p:cNvPr name="Group 38" id="38"/>
          <p:cNvGrpSpPr/>
          <p:nvPr/>
        </p:nvGrpSpPr>
        <p:grpSpPr>
          <a:xfrm rot="0">
            <a:off x="8260270" y="6422041"/>
            <a:ext cx="1767173" cy="2115788"/>
            <a:chOff x="0" y="0"/>
            <a:chExt cx="2356231" cy="28210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56231" cy="2821051"/>
            </a:xfrm>
            <a:custGeom>
              <a:avLst/>
              <a:gdLst/>
              <a:ahLst/>
              <a:cxnLst/>
              <a:rect r="r" b="b" t="t" l="l"/>
              <a:pathLst>
                <a:path h="2821051" w="2356231">
                  <a:moveTo>
                    <a:pt x="0" y="0"/>
                  </a:moveTo>
                  <a:lnTo>
                    <a:pt x="2356231" y="0"/>
                  </a:lnTo>
                  <a:lnTo>
                    <a:pt x="2356231" y="2821051"/>
                  </a:lnTo>
                  <a:lnTo>
                    <a:pt x="0" y="2821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279505" y="6292120"/>
            <a:ext cx="3567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sp>
        <p:nvSpPr>
          <p:cNvPr name="AutoShape 41" id="41"/>
          <p:cNvSpPr/>
          <p:nvPr/>
        </p:nvSpPr>
        <p:spPr>
          <a:xfrm rot="0">
            <a:off x="12064937" y="6187345"/>
            <a:ext cx="5308568" cy="3490055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12245912" y="8686800"/>
            <a:ext cx="49466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E6EDF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State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45912" y="9124950"/>
            <a:ext cx="494661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2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FlightState</a:t>
            </a:r>
          </a:p>
        </p:txBody>
      </p:sp>
      <p:sp>
        <p:nvSpPr>
          <p:cNvPr name="AutoShape 44" id="44"/>
          <p:cNvSpPr/>
          <p:nvPr/>
        </p:nvSpPr>
        <p:spPr>
          <a:xfrm rot="0">
            <a:off x="12245912" y="6368320"/>
            <a:ext cx="4946618" cy="2223230"/>
          </a:xfrm>
          <a:prstGeom prst="rect">
            <a:avLst/>
          </a:prstGeom>
          <a:solidFill>
            <a:srgbClr val="0D1117"/>
          </a:solidFill>
          <a:ln w="9525" cap="sq">
            <a:solidFill>
              <a:srgbClr val="21262D"/>
            </a:solidFill>
            <a:prstDash val="solid"/>
            <a:miter/>
          </a:ln>
        </p:spPr>
      </p:sp>
      <p:grpSp>
        <p:nvGrpSpPr>
          <p:cNvPr name="Group 45" id="45"/>
          <p:cNvGrpSpPr/>
          <p:nvPr/>
        </p:nvGrpSpPr>
        <p:grpSpPr>
          <a:xfrm rot="0">
            <a:off x="13905643" y="6422041"/>
            <a:ext cx="1627156" cy="2115598"/>
            <a:chOff x="0" y="0"/>
            <a:chExt cx="2169541" cy="28207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69541" cy="2820797"/>
            </a:xfrm>
            <a:custGeom>
              <a:avLst/>
              <a:gdLst/>
              <a:ahLst/>
              <a:cxnLst/>
              <a:rect r="r" b="b" t="t" l="l"/>
              <a:pathLst>
                <a:path h="2820797" w="2169541">
                  <a:moveTo>
                    <a:pt x="0" y="0"/>
                  </a:moveTo>
                  <a:lnTo>
                    <a:pt x="2169541" y="0"/>
                  </a:lnTo>
                  <a:lnTo>
                    <a:pt x="2169541" y="2820797"/>
                  </a:lnTo>
                  <a:lnTo>
                    <a:pt x="0" y="2820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2" t="0" r="2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6854773" y="6292120"/>
            <a:ext cx="3567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23950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// PATTERNS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303657" y="304800"/>
            <a:ext cx="106994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 OF 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4" id="4"/>
          <p:cNvSpPr/>
          <p:nvPr/>
        </p:nvSpPr>
        <p:spPr>
          <a:xfrm rot="0">
            <a:off x="914400" y="2754535"/>
            <a:ext cx="7924800" cy="5334000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800350" y="2935510"/>
            <a:ext cx="4152710" cy="4971860"/>
            <a:chOff x="0" y="0"/>
            <a:chExt cx="5536946" cy="6629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36946" cy="6629146"/>
            </a:xfrm>
            <a:custGeom>
              <a:avLst/>
              <a:gdLst/>
              <a:ahLst/>
              <a:cxnLst/>
              <a:rect r="r" b="b" t="t" l="l"/>
              <a:pathLst>
                <a:path h="6629146" w="5536946">
                  <a:moveTo>
                    <a:pt x="0" y="0"/>
                  </a:moveTo>
                  <a:lnTo>
                    <a:pt x="5536946" y="0"/>
                  </a:lnTo>
                  <a:lnTo>
                    <a:pt x="5536946" y="6629146"/>
                  </a:lnTo>
                  <a:lnTo>
                    <a:pt x="0" y="6629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9" r="0" b="-8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HIGHLIGHT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11334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Sorotan Pattern: Strategy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8800" y="4332160"/>
            <a:ext cx="7924800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Rocket menyimpan field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EngineStrategy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1950">
                <a:solidFill>
                  <a:srgbClr val="7EE78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ChemicalEngine: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 thrust 500, burn 10 per detik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b="true" sz="1950">
                <a:solidFill>
                  <a:srgbClr val="7EE78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IonEngine: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 thrust 50, burn 0.5 per detik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Tekan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untuk </a:t>
            </a:r>
            <a:r>
              <a:rPr lang="en-US" b="true" sz="1950">
                <a:solidFill>
                  <a:srgbClr val="58A6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swap engine mid-flight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3950" y="304800"/>
            <a:ext cx="410108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// PATTERN HIGHLIGHT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47041" y="304800"/>
            <a:ext cx="142655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STRATEGY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115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6966716" y="6466894"/>
            <a:ext cx="10108597" cy="3210506"/>
            <a:chOff x="0" y="0"/>
            <a:chExt cx="13478129" cy="42806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78129" cy="4280674"/>
            </a:xfrm>
            <a:custGeom>
              <a:avLst/>
              <a:gdLst/>
              <a:ahLst/>
              <a:cxnLst/>
              <a:rect r="r" b="b" t="t" l="l"/>
              <a:pathLst>
                <a:path h="4280674" w="13478129">
                  <a:moveTo>
                    <a:pt x="50800" y="0"/>
                  </a:moveTo>
                  <a:lnTo>
                    <a:pt x="13427329" y="0"/>
                  </a:lnTo>
                  <a:cubicBezTo>
                    <a:pt x="13455396" y="0"/>
                    <a:pt x="13478129" y="21080"/>
                    <a:pt x="13478129" y="47105"/>
                  </a:cubicBezTo>
                  <a:lnTo>
                    <a:pt x="13478129" y="4233569"/>
                  </a:lnTo>
                  <a:cubicBezTo>
                    <a:pt x="13478129" y="4259595"/>
                    <a:pt x="13455396" y="4280674"/>
                    <a:pt x="13427329" y="4280674"/>
                  </a:cubicBezTo>
                  <a:lnTo>
                    <a:pt x="50800" y="4280674"/>
                  </a:lnTo>
                  <a:cubicBezTo>
                    <a:pt x="22733" y="4280674"/>
                    <a:pt x="0" y="4259595"/>
                    <a:pt x="0" y="4233569"/>
                  </a:cubicBezTo>
                  <a:lnTo>
                    <a:pt x="0" y="47105"/>
                  </a:lnTo>
                  <a:cubicBezTo>
                    <a:pt x="0" y="21080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1040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8129" cy="4280674"/>
            </a:xfrm>
            <a:custGeom>
              <a:avLst/>
              <a:gdLst/>
              <a:ahLst/>
              <a:cxnLst/>
              <a:rect r="r" b="b" t="t" l="l"/>
              <a:pathLst>
                <a:path h="4280674" w="13478129">
                  <a:moveTo>
                    <a:pt x="50800" y="0"/>
                  </a:moveTo>
                  <a:lnTo>
                    <a:pt x="13427329" y="0"/>
                  </a:lnTo>
                  <a:cubicBezTo>
                    <a:pt x="13455396" y="0"/>
                    <a:pt x="13478129" y="21080"/>
                    <a:pt x="13478129" y="47105"/>
                  </a:cubicBezTo>
                  <a:lnTo>
                    <a:pt x="13478129" y="4233569"/>
                  </a:lnTo>
                  <a:cubicBezTo>
                    <a:pt x="13478129" y="4259595"/>
                    <a:pt x="13455396" y="4280674"/>
                    <a:pt x="13427329" y="4280674"/>
                  </a:cubicBezTo>
                  <a:lnTo>
                    <a:pt x="50800" y="4280674"/>
                  </a:lnTo>
                  <a:cubicBezTo>
                    <a:pt x="22733" y="4280674"/>
                    <a:pt x="0" y="4259595"/>
                    <a:pt x="0" y="4233569"/>
                  </a:cubicBezTo>
                  <a:lnTo>
                    <a:pt x="0" y="47105"/>
                  </a:lnTo>
                  <a:cubicBezTo>
                    <a:pt x="0" y="21080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</p:grpSp>
      <p:sp>
        <p:nvSpPr>
          <p:cNvPr name="AutoShape 7" id="7"/>
          <p:cNvSpPr/>
          <p:nvPr/>
        </p:nvSpPr>
        <p:spPr>
          <a:xfrm rot="0">
            <a:off x="3174492" y="1963960"/>
            <a:ext cx="11973204" cy="4408730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3499990" y="2202982"/>
            <a:ext cx="11288019" cy="3930685"/>
            <a:chOff x="0" y="0"/>
            <a:chExt cx="6885813" cy="2397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5813" cy="2397760"/>
            </a:xfrm>
            <a:custGeom>
              <a:avLst/>
              <a:gdLst/>
              <a:ahLst/>
              <a:cxnLst/>
              <a:rect r="r" b="b" t="t" l="l"/>
              <a:pathLst>
                <a:path h="2397760" w="6885813">
                  <a:moveTo>
                    <a:pt x="0" y="0"/>
                  </a:moveTo>
                  <a:lnTo>
                    <a:pt x="6885813" y="0"/>
                  </a:lnTo>
                  <a:lnTo>
                    <a:pt x="6885813" y="2397760"/>
                  </a:lnTo>
                  <a:lnTo>
                    <a:pt x="0" y="239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6" r="0" b="-7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6477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HIGHLIGHT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1057275"/>
            <a:ext cx="16459200" cy="5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Sorotan Pattern: Factory Method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825" y="6859695"/>
            <a:ext cx="5731534" cy="105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 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createMachine(String type)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return Machine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11 subclass concrete menggunakan satu switch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Dipakai oleh placement dan save restore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01807" y="6859695"/>
            <a:ext cx="9453764" cy="257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83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Machine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83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createMachine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683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type,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x,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y) {                                                 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</a:p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683">
                <a:solidFill>
                  <a:srgbClr val="F0883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switch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(type) { </a:t>
            </a:r>
          </a:p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83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"IronSmelter"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new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83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IronSmelter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(x, y, 1f, 1f); </a:t>
            </a:r>
          </a:p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83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"AutoMiner"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 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new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83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AutoMiner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(x, y, 1f, 1f); </a:t>
            </a:r>
          </a:p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683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... 9 case lainnya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default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           </a:t>
            </a:r>
            <a:r>
              <a:rPr lang="en-US" sz="1683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null</a:t>
            </a: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</a:p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} </a:t>
            </a:r>
          </a:p>
          <a:p>
            <a:pPr algn="l">
              <a:lnSpc>
                <a:spcPts val="2609"/>
              </a:lnSpc>
            </a:pPr>
            <a:r>
              <a:rPr lang="en-US" sz="1683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950" y="304800"/>
            <a:ext cx="410108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// PATTERN HIGHLIGHT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77193" y="304800"/>
            <a:ext cx="24964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FACTORY METHOD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D1117"/>
          </a:solidFill>
        </p:spPr>
      </p:sp>
      <p:sp>
        <p:nvSpPr>
          <p:cNvPr name="AutoShape 3" id="3"/>
          <p:cNvSpPr/>
          <p:nvPr/>
        </p:nvSpPr>
        <p:spPr>
          <a:xfrm rot="0">
            <a:off x="914400" y="1887760"/>
            <a:ext cx="838200" cy="38100"/>
          </a:xfrm>
          <a:prstGeom prst="rect">
            <a:avLst/>
          </a:prstGeom>
          <a:solidFill>
            <a:srgbClr val="58A6FF"/>
          </a:solidFill>
        </p:spPr>
      </p:sp>
      <p:sp>
        <p:nvSpPr>
          <p:cNvPr name="AutoShape 4" id="4"/>
          <p:cNvSpPr/>
          <p:nvPr/>
        </p:nvSpPr>
        <p:spPr>
          <a:xfrm rot="0">
            <a:off x="914400" y="2344960"/>
            <a:ext cx="5013310" cy="3141837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AutoShape 5" id="5"/>
          <p:cNvSpPr/>
          <p:nvPr/>
        </p:nvSpPr>
        <p:spPr>
          <a:xfrm rot="0">
            <a:off x="6181829" y="2344960"/>
            <a:ext cx="5013310" cy="3141837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AutoShape 6" id="6"/>
          <p:cNvSpPr/>
          <p:nvPr/>
        </p:nvSpPr>
        <p:spPr>
          <a:xfrm rot="0">
            <a:off x="914400" y="6269344"/>
            <a:ext cx="5013310" cy="3293756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 rot="0">
            <a:off x="6181829" y="6421263"/>
            <a:ext cx="5013310" cy="3141837"/>
          </a:xfrm>
          <a:prstGeom prst="rect">
            <a:avLst/>
          </a:prstGeom>
          <a:solidFill>
            <a:srgbClr val="161B22"/>
          </a:solidFill>
          <a:ln w="9525" cap="sq">
            <a:solidFill>
              <a:srgbClr val="30363D"/>
            </a:solidFill>
            <a:prstDash val="solid"/>
            <a:miter/>
          </a:ln>
        </p:spPr>
      </p:sp>
      <p:sp>
        <p:nvSpPr>
          <p:cNvPr name="AutoShape 8" id="8"/>
          <p:cNvSpPr/>
          <p:nvPr/>
        </p:nvSpPr>
        <p:spPr>
          <a:xfrm rot="0">
            <a:off x="925951" y="4735990"/>
            <a:ext cx="4990208" cy="739256"/>
          </a:xfrm>
          <a:prstGeom prst="rect">
            <a:avLst/>
          </a:prstGeom>
          <a:solidFill>
            <a:srgbClr val="0D1117">
              <a:alpha val="84706"/>
            </a:srgbClr>
          </a:solidFill>
        </p:spPr>
      </p:sp>
      <p:sp>
        <p:nvSpPr>
          <p:cNvPr name="AutoShape 9" id="9"/>
          <p:cNvSpPr/>
          <p:nvPr/>
        </p:nvSpPr>
        <p:spPr>
          <a:xfrm rot="0">
            <a:off x="925951" y="4735990"/>
            <a:ext cx="4990208" cy="11551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AutoShape 10" id="10"/>
          <p:cNvSpPr/>
          <p:nvPr/>
        </p:nvSpPr>
        <p:spPr>
          <a:xfrm rot="0">
            <a:off x="6193380" y="4735990"/>
            <a:ext cx="4990208" cy="739256"/>
          </a:xfrm>
          <a:prstGeom prst="rect">
            <a:avLst/>
          </a:prstGeom>
          <a:solidFill>
            <a:srgbClr val="0D1117">
              <a:alpha val="84706"/>
            </a:srgbClr>
          </a:solidFill>
        </p:spPr>
      </p:sp>
      <p:sp>
        <p:nvSpPr>
          <p:cNvPr name="AutoShape 11" id="11"/>
          <p:cNvSpPr/>
          <p:nvPr/>
        </p:nvSpPr>
        <p:spPr>
          <a:xfrm rot="0">
            <a:off x="6193380" y="4735990"/>
            <a:ext cx="4990208" cy="11551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AutoShape 12" id="12"/>
          <p:cNvSpPr/>
          <p:nvPr/>
        </p:nvSpPr>
        <p:spPr>
          <a:xfrm rot="0">
            <a:off x="925951" y="8812293"/>
            <a:ext cx="4990208" cy="739256"/>
          </a:xfrm>
          <a:prstGeom prst="rect">
            <a:avLst/>
          </a:prstGeom>
          <a:solidFill>
            <a:srgbClr val="0D1117">
              <a:alpha val="84706"/>
            </a:srgbClr>
          </a:solidFill>
        </p:spPr>
      </p:sp>
      <p:sp>
        <p:nvSpPr>
          <p:cNvPr name="AutoShape 13" id="13"/>
          <p:cNvSpPr/>
          <p:nvPr/>
        </p:nvSpPr>
        <p:spPr>
          <a:xfrm rot="0">
            <a:off x="925951" y="8812293"/>
            <a:ext cx="4990208" cy="11551"/>
          </a:xfrm>
          <a:prstGeom prst="rect">
            <a:avLst/>
          </a:prstGeom>
          <a:solidFill>
            <a:srgbClr val="21262D"/>
          </a:solidFill>
        </p:spPr>
      </p:sp>
      <p:sp>
        <p:nvSpPr>
          <p:cNvPr name="AutoShape 14" id="14"/>
          <p:cNvSpPr/>
          <p:nvPr/>
        </p:nvSpPr>
        <p:spPr>
          <a:xfrm rot="0">
            <a:off x="6193380" y="8812293"/>
            <a:ext cx="4990208" cy="739256"/>
          </a:xfrm>
          <a:prstGeom prst="rect">
            <a:avLst/>
          </a:prstGeom>
          <a:solidFill>
            <a:srgbClr val="0D1117">
              <a:alpha val="84706"/>
            </a:srgbClr>
          </a:solidFill>
        </p:spPr>
      </p:sp>
      <p:sp>
        <p:nvSpPr>
          <p:cNvPr name="AutoShape 15" id="15"/>
          <p:cNvSpPr/>
          <p:nvPr/>
        </p:nvSpPr>
        <p:spPr>
          <a:xfrm rot="0">
            <a:off x="6193380" y="8812293"/>
            <a:ext cx="4990208" cy="11551"/>
          </a:xfrm>
          <a:prstGeom prst="rect">
            <a:avLst/>
          </a:prstGeom>
          <a:solidFill>
            <a:srgbClr val="21262D"/>
          </a:solidFill>
        </p:spPr>
      </p:sp>
      <p:grpSp>
        <p:nvGrpSpPr>
          <p:cNvPr name="Group 16" id="16"/>
          <p:cNvGrpSpPr/>
          <p:nvPr/>
        </p:nvGrpSpPr>
        <p:grpSpPr>
          <a:xfrm rot="0">
            <a:off x="914400" y="452438"/>
            <a:ext cx="76200" cy="76200"/>
            <a:chOff x="0" y="0"/>
            <a:chExt cx="101600" cy="10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66379" y="2387074"/>
            <a:ext cx="4909352" cy="2376344"/>
          </a:xfrm>
          <a:custGeom>
            <a:avLst/>
            <a:gdLst/>
            <a:ahLst/>
            <a:cxnLst/>
            <a:rect r="r" b="b" t="t" l="l"/>
            <a:pathLst>
              <a:path h="2376344" w="4909352">
                <a:moveTo>
                  <a:pt x="0" y="0"/>
                </a:moveTo>
                <a:lnTo>
                  <a:pt x="4909352" y="0"/>
                </a:lnTo>
                <a:lnTo>
                  <a:pt x="4909352" y="2376344"/>
                </a:lnTo>
                <a:lnTo>
                  <a:pt x="0" y="2376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13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193380" y="2381893"/>
            <a:ext cx="4970666" cy="2354097"/>
          </a:xfrm>
          <a:custGeom>
            <a:avLst/>
            <a:gdLst/>
            <a:ahLst/>
            <a:cxnLst/>
            <a:rect r="r" b="b" t="t" l="l"/>
            <a:pathLst>
              <a:path h="2354097" w="4970666">
                <a:moveTo>
                  <a:pt x="0" y="0"/>
                </a:moveTo>
                <a:lnTo>
                  <a:pt x="4970666" y="0"/>
                </a:lnTo>
                <a:lnTo>
                  <a:pt x="4970666" y="2354097"/>
                </a:lnTo>
                <a:lnTo>
                  <a:pt x="0" y="2354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2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4400" y="6269344"/>
            <a:ext cx="5013310" cy="2542949"/>
          </a:xfrm>
          <a:custGeom>
            <a:avLst/>
            <a:gdLst/>
            <a:ahLst/>
            <a:cxnLst/>
            <a:rect r="r" b="b" t="t" l="l"/>
            <a:pathLst>
              <a:path h="2542949" w="5013310">
                <a:moveTo>
                  <a:pt x="0" y="0"/>
                </a:moveTo>
                <a:lnTo>
                  <a:pt x="5013310" y="0"/>
                </a:lnTo>
                <a:lnTo>
                  <a:pt x="5013310" y="2542949"/>
                </a:lnTo>
                <a:lnTo>
                  <a:pt x="0" y="2542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1" r="0" b="-641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181829" y="6280895"/>
            <a:ext cx="5013310" cy="2531399"/>
          </a:xfrm>
          <a:custGeom>
            <a:avLst/>
            <a:gdLst/>
            <a:ahLst/>
            <a:cxnLst/>
            <a:rect r="r" b="b" t="t" l="l"/>
            <a:pathLst>
              <a:path h="2531399" w="5013310">
                <a:moveTo>
                  <a:pt x="0" y="0"/>
                </a:moveTo>
                <a:lnTo>
                  <a:pt x="5013310" y="0"/>
                </a:lnTo>
                <a:lnTo>
                  <a:pt x="5013310" y="2531398"/>
                </a:lnTo>
                <a:lnTo>
                  <a:pt x="0" y="2531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57" t="0" r="-3727" b="-456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14400" y="723900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95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 &amp; BONUS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1133475"/>
            <a:ext cx="4315968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800" spc="-48">
                <a:solidFill>
                  <a:srgbClr val="E6EDF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Demo &amp; Bonus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0555" y="2389748"/>
            <a:ext cx="737187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24">
                <a:solidFill>
                  <a:srgbClr val="58A6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BONUS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60555" y="2932673"/>
            <a:ext cx="7371874" cy="175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b="true" sz="1950">
                <a:solidFill>
                  <a:srgbClr val="58A6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▸</a:t>
            </a:r>
            <a:r>
              <a:rPr lang="en-US" b="true" sz="1950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b="true" sz="1950">
                <a:solidFill>
                  <a:srgbClr val="E6ED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itch.io: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davidalexanderr.itch.io/astrodrill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Backend self-hosted: Docker + Tailscale Funnel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Sistem cloud save dan load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Global leaderboard</a:t>
            </a:r>
          </a:p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▸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11 machine yang dapat di-craft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24397" y="6335538"/>
            <a:ext cx="16459200" cy="77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549" spc="90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Terima kasih!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6968" y="4861628"/>
            <a:ext cx="1225432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76472" y="4861628"/>
            <a:ext cx="408670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24397" y="4861628"/>
            <a:ext cx="1429651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43900" y="4861628"/>
            <a:ext cx="408670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6968" y="8937931"/>
            <a:ext cx="1225432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Flight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76472" y="8937931"/>
            <a:ext cx="408670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24397" y="8937931"/>
            <a:ext cx="2246414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Leaderboard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43900" y="8937931"/>
            <a:ext cx="408670" cy="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 spc="189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3950" y="304800"/>
            <a:ext cx="178308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// DEMO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125349" y="304800"/>
            <a:ext cx="124825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2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CLOSING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862965" y="9572625"/>
            <a:ext cx="8916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r>
              <a:rPr lang="en-US" sz="1800" spc="144">
                <a:solidFill>
                  <a:srgbClr val="444C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800" spc="144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DAHKj9u8Nvc</dc:identifier>
  <dcterms:modified xsi:type="dcterms:W3CDTF">2011-08-01T06:04:30Z</dcterms:modified>
  <cp:revision>1</cp:revision>
  <dc:title>AstroDrill Defence</dc:title>
</cp:coreProperties>
</file>